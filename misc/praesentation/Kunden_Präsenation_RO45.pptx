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81" r:id="rId2"/>
    <p:sldId id="371" r:id="rId3"/>
    <p:sldId id="355" r:id="rId4"/>
    <p:sldId id="369" r:id="rId5"/>
    <p:sldId id="375" r:id="rId6"/>
    <p:sldId id="370" r:id="rId7"/>
    <p:sldId id="372" r:id="rId8"/>
    <p:sldId id="373" r:id="rId9"/>
    <p:sldId id="374" r:id="rId10"/>
    <p:sldId id="406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20D9-BDE3-3459-1244-3C0D286D797D}" v="10" dt="2026-07-05T11:17:03.368"/>
    <p1510:client id="{2067BAED-BC45-3B87-3FCD-2E9CE0D59EBE}" v="1480" dt="2026-07-05T12:21:53.791"/>
    <p1510:client id="{2A053BAE-C83B-225C-A704-801ADE2C63F4}" v="35" dt="2026-07-05T18:08:46.355"/>
    <p1510:client id="{528E6E06-8155-47F3-512F-CC31F29F6426}" v="22" dt="2026-07-05T17:56:10.404"/>
    <p1510:client id="{F5644B15-AF3C-7DD9-9EA3-AC72E9B21774}" v="27" dt="2026-07-06T06:32:21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BAF7E-E1AF-4554-811D-672694C0463E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D4D37-2C36-4441-A3BE-FFA391B223E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292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0" i="0">
              <a:effectLst/>
              <a:latin typeface="Segoe UI" panose="020B0502040204020203" pitchFamily="34" charset="0"/>
            </a:endParaRPr>
          </a:p>
          <a:p>
            <a:pPr rtl="0"/>
            <a:r>
              <a:rPr lang="de-DE"/>
              <a:t>ID=d924773e-9a16-4d6d-9803-8cb819e99682
Rezept=text_billboard
Typ=TextOnly
Variante=0
FamilyID=AccentBoxWalbaum_Zero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AA36B1-75F6-458C-B388-8BC01E9857C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2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902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680-6024-E7AC-5E36-DCAD108D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279690-8BAC-CAF0-2CAF-A95FBA711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82331D-441F-0A8C-8717-8BDB31C02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65D321-12F6-536C-3A4D-DC9A727C3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49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7262906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27400899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2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014949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181258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hteck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/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13008245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 useBgFill="1">
        <p:nvSpPr>
          <p:cNvPr id="4" name="Rechteck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38085158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hteck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2" name="Bildplatzhalt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33" name="Bildplatzhalt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37" name="Textplatzhalt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38" name="Textplatzhalt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39" name="Textplatzhalt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40" name="Textplatzhalt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41" name="Textplatzhalt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420922233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hteck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329613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hteck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6" name="Inhaltsplatzhalt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53192153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hteck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85423818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hteck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de-DE" noProof="0"/>
              <a:t>Symbol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de-DE" noProof="0"/>
              <a:t>Symbol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de-DE" noProof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348562035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6332723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9436141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hteck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40790699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hteck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5475655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38483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D9D20-B4BB-42AA-8DDD-68CC9F1D95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de-DE"/>
              <a:t>Kunden Präsentation</a:t>
            </a:r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4F3EDE6C-DDCB-0EE3-5AD9-C1D1A2B941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120" y="4142232"/>
            <a:ext cx="7223760" cy="685800"/>
          </a:xfrm>
        </p:spPr>
        <p:txBody>
          <a:bodyPr rtlCol="0"/>
          <a:lstStyle/>
          <a:p>
            <a:pPr rtl="0"/>
            <a:r>
              <a:rPr lang="de-DE"/>
              <a:t>Automatische Sortieranlage</a:t>
            </a:r>
          </a:p>
        </p:txBody>
      </p:sp>
      <p:sp>
        <p:nvSpPr>
          <p:cNvPr id="8" name="Untertitel 2">
            <a:extLst>
              <a:ext uri="{FF2B5EF4-FFF2-40B4-BE49-F238E27FC236}">
                <a16:creationId xmlns:a16="http://schemas.microsoft.com/office/drawing/2014/main" id="{261E6BBE-CA35-5C71-E481-B41223C1255B}"/>
              </a:ext>
            </a:extLst>
          </p:cNvPr>
          <p:cNvSpPr txBox="1">
            <a:spLocks/>
          </p:cNvSpPr>
          <p:nvPr/>
        </p:nvSpPr>
        <p:spPr>
          <a:xfrm>
            <a:off x="2967824" y="4924110"/>
            <a:ext cx="6256352" cy="68248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C.H.A.O.S - Cats &amp; Horned Animals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Organisation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System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9" name="Untertitel 2">
            <a:extLst>
              <a:ext uri="{FF2B5EF4-FFF2-40B4-BE49-F238E27FC236}">
                <a16:creationId xmlns:a16="http://schemas.microsoft.com/office/drawing/2014/main" id="{B4200D60-C734-6481-0249-8D36D9E2192B}"/>
              </a:ext>
            </a:extLst>
          </p:cNvPr>
          <p:cNvSpPr txBox="1">
            <a:spLocks/>
          </p:cNvSpPr>
          <p:nvPr/>
        </p:nvSpPr>
        <p:spPr>
          <a:xfrm>
            <a:off x="3646484" y="5702675"/>
            <a:ext cx="4895983" cy="68248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RO45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Robotik Projekt 3</a:t>
            </a:r>
          </a:p>
        </p:txBody>
      </p:sp>
    </p:spTree>
    <p:extLst>
      <p:ext uri="{BB962C8B-B14F-4D97-AF65-F5344CB8AC3E}">
        <p14:creationId xmlns:p14="http://schemas.microsoft.com/office/powerpoint/2010/main" val="183373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0508-117B-A914-7089-FBBB719C7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AA9037-E4F2-02D9-1880-E5D6C1D62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766AA4-2CC0-CB45-79BA-D64B4AE2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8F8AA8B-9081-46AB-FF8F-F4086837505C}"/>
              </a:ext>
            </a:extLst>
          </p:cNvPr>
          <p:cNvSpPr txBox="1"/>
          <p:nvPr/>
        </p:nvSpPr>
        <p:spPr>
          <a:xfrm>
            <a:off x="735495" y="2875002"/>
            <a:ext cx="25377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Inhalt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2809CA01-4AD0-F20B-BAF0-176B9440BE1D}"/>
              </a:ext>
            </a:extLst>
          </p:cNvPr>
          <p:cNvSpPr txBox="1">
            <a:spLocks/>
          </p:cNvSpPr>
          <p:nvPr/>
        </p:nvSpPr>
        <p:spPr>
          <a:xfrm>
            <a:off x="6679095" y="2070652"/>
            <a:ext cx="4359966" cy="271669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Projektübersicht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Techn. Highlights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Performance &amp; Randbedingung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Demonstration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Projekterfolge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Aussichten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7746BA4-58D9-4DA1-341A-B4E89B311536}"/>
              </a:ext>
            </a:extLst>
          </p:cNvPr>
          <p:cNvSpPr/>
          <p:nvPr/>
        </p:nvSpPr>
        <p:spPr>
          <a:xfrm>
            <a:off x="273127" y="2815250"/>
            <a:ext cx="148792" cy="122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71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F4A85B-2AC6-4E29-B074-AB92F8FA9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1297722"/>
            <a:ext cx="3721608" cy="511339"/>
          </a:xfrm>
        </p:spPr>
        <p:txBody>
          <a:bodyPr rtlCol="0" anchor="t">
            <a:normAutofit/>
          </a:bodyPr>
          <a:lstStyle/>
          <a:p>
            <a:pPr rtl="0"/>
            <a:r>
              <a:rPr lang="de-DE"/>
              <a:t>Projektübersicht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2AB0EB-0819-41F4-99E9-C02FA0DAF66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36973" y="2330559"/>
            <a:ext cx="4454070" cy="12387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2000"/>
              <a:t>Entwicklung einer Sortieranlage basierend auf einem Portalroboter, sowie  Kamerasystem.</a:t>
            </a:r>
          </a:p>
          <a:p>
            <a:pPr rtl="0"/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2F58AFF-87AD-17BB-A5DE-D947FAC582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628" r="105" b="10042"/>
          <a:stretch>
            <a:fillRect/>
          </a:stretch>
        </p:blipFill>
        <p:spPr>
          <a:xfrm>
            <a:off x="246742" y="616857"/>
            <a:ext cx="6872534" cy="4174066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A8B80E0-0835-8BFE-13BB-79BBAA2DF48B}"/>
              </a:ext>
            </a:extLst>
          </p:cNvPr>
          <p:cNvSpPr txBox="1"/>
          <p:nvPr/>
        </p:nvSpPr>
        <p:spPr>
          <a:xfrm>
            <a:off x="7339107" y="3707118"/>
            <a:ext cx="458395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sng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Kernmerkmale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:​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000" err="1"/>
              <a:t>Kameragestützt</a:t>
            </a:r>
            <a:r>
              <a:rPr lang="en-US" sz="2000"/>
              <a:t> </a:t>
            </a:r>
            <a:r>
              <a:rPr lang="en-US" sz="2000" err="1"/>
              <a:t>Objekterkennung</a:t>
            </a:r>
            <a:r>
              <a:rPr lang="en-US" sz="2000"/>
              <a:t>​</a:t>
            </a:r>
          </a:p>
          <a:p>
            <a: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US" sz="2000"/>
              <a:t>Machine learning </a:t>
            </a:r>
            <a:r>
              <a:rPr lang="en-US" sz="2000" err="1"/>
              <a:t>zur</a:t>
            </a:r>
            <a:r>
              <a:rPr lang="en-US" sz="2000"/>
              <a:t> </a:t>
            </a:r>
            <a:r>
              <a:rPr lang="en-US" sz="2000" err="1"/>
              <a:t>Objektklassifikation</a:t>
            </a:r>
            <a:r>
              <a:rPr lang="en-US" sz="2000"/>
              <a:t>​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2000" err="1"/>
              <a:t>Portalroboter</a:t>
            </a:r>
            <a:r>
              <a:rPr lang="en-US" sz="2000"/>
              <a:t> </a:t>
            </a:r>
            <a:r>
              <a:rPr lang="en-US" sz="2000" err="1"/>
              <a:t>mit</a:t>
            </a:r>
            <a:r>
              <a:rPr lang="en-US" sz="2000"/>
              <a:t> </a:t>
            </a:r>
            <a:r>
              <a:rPr lang="en-US" sz="2000" err="1"/>
              <a:t>Sauggreifer</a:t>
            </a:r>
            <a:r>
              <a:rPr lang="en-US" sz="2000"/>
              <a:t> </a:t>
            </a:r>
            <a:r>
              <a:rPr lang="en-US" sz="2000" err="1"/>
              <a:t>zum</a:t>
            </a:r>
            <a:r>
              <a:rPr lang="en-US" sz="2000"/>
              <a:t> </a:t>
            </a:r>
            <a:r>
              <a:rPr lang="en-US" sz="2000" err="1"/>
              <a:t>geregelten</a:t>
            </a:r>
            <a:r>
              <a:rPr lang="en-US" sz="2000"/>
              <a:t> </a:t>
            </a:r>
            <a:r>
              <a:rPr lang="en-US" sz="2000" err="1"/>
              <a:t>Greifen</a:t>
            </a:r>
            <a:r>
              <a:rPr lang="en-US" sz="2000"/>
              <a:t> und </a:t>
            </a:r>
            <a:r>
              <a:rPr lang="en-US" sz="2000" err="1"/>
              <a:t>Einsortieren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​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 ​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AABFFE-234B-E61A-207E-50C73451798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91BE93-9C6A-E70B-7F73-73AE3759B74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C5B4E3-5156-0AFC-FC06-145AFF36F27C}"/>
              </a:ext>
            </a:extLst>
          </p:cNvPr>
          <p:cNvSpPr txBox="1"/>
          <p:nvPr/>
        </p:nvSpPr>
        <p:spPr>
          <a:xfrm>
            <a:off x="205154" y="5031153"/>
            <a:ext cx="682869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err="1"/>
              <a:t>Projektteam</a:t>
            </a:r>
            <a:r>
              <a:rPr lang="en-US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Patrice Eric Wenzig Gezgin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Linus Noah Braun</a:t>
            </a:r>
          </a:p>
        </p:txBody>
      </p:sp>
    </p:spTree>
    <p:extLst>
      <p:ext uri="{BB962C8B-B14F-4D97-AF65-F5344CB8AC3E}">
        <p14:creationId xmlns:p14="http://schemas.microsoft.com/office/powerpoint/2010/main" val="41678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D72F05A-793A-4D33-1D50-9CFB48A27431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7CFB0C-6646-AEFD-CAE5-D6796F506D36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Highlights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A26FD1-D310-A4EA-C28A-1A28F519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4FC66A-2D63-76BA-A1A9-0BC5CF68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AEBCC5D-DD49-5377-ED09-D9479344C347}"/>
              </a:ext>
            </a:extLst>
          </p:cNvPr>
          <p:cNvSpPr txBox="1"/>
          <p:nvPr/>
        </p:nvSpPr>
        <p:spPr>
          <a:xfrm>
            <a:off x="567764" y="1548771"/>
            <a:ext cx="10365279" cy="37548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Logik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einfach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und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simpel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erweiterbar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Modularer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Softwareaufbau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​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mit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eindeutigen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Schnittstellen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Kamera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sucht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sich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den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zu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verwendenden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Bildauschnitt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mit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einem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Objekt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>
              <a:defRPr/>
            </a:pP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 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beim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 Start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</a:endParaRPr>
          </a:p>
          <a:p>
            <a:pPr>
              <a:defRPr/>
            </a:pPr>
            <a:endParaRPr lang="en-US" sz="2000">
              <a:solidFill>
                <a:srgbClr val="000000"/>
              </a:solidFill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</a:rPr>
              <a:t>Unabhängigkeit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 von </a:t>
            </a:r>
            <a:r>
              <a:rPr lang="en-US" sz="2000" err="1">
                <a:solidFill>
                  <a:srgbClr val="000000"/>
                </a:solidFill>
                <a:latin typeface="Avenir Next LT Pro"/>
              </a:rPr>
              <a:t>Softwareherstellern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</a:rPr>
              <a:t>durch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 Open Source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288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7AA6F-B2A1-C87D-C4BC-B9D4FB50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7D03BB-91E5-384A-4BDC-E8C1E92ACE8B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28F5194-9522-AAD2-4F32-8EBCB014B08C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defRPr/>
            </a:pPr>
            <a:r>
              <a:rPr lang="de-DE" sz="2800">
                <a:solidFill>
                  <a:srgbClr val="000000"/>
                </a:solidFill>
                <a:latin typeface="Avenir Next LT Pro"/>
              </a:rPr>
              <a:t>Projektmanagement &amp; Stakeholder</a:t>
            </a: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D16282-ECB2-0D16-5ABA-AB2B42164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6E3501-8D37-D0D2-6236-BCD23940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AEFA58F4-BC70-2201-5DB7-8E663E12C3FD}"/>
              </a:ext>
            </a:extLst>
          </p:cNvPr>
          <p:cNvSpPr txBox="1"/>
          <p:nvPr/>
        </p:nvSpPr>
        <p:spPr>
          <a:xfrm>
            <a:off x="567764" y="1614085"/>
            <a:ext cx="10365279" cy="40934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>
              <a:defRPr/>
            </a:pPr>
            <a:r>
              <a:rPr lang="en-US" sz="2000" b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Stakeholder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:</a:t>
            </a:r>
          </a:p>
          <a:p>
            <a:pPr>
              <a:defRPr/>
            </a:pP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Professor Dr. Lorenzen 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C.H.A.O.S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Entwicklerteam</a:t>
            </a:r>
          </a:p>
          <a:p>
            <a:pPr>
              <a:defRPr/>
            </a:pPr>
            <a:endParaRPr lang="en-US" sz="2000" b="1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>
              <a:defRPr/>
            </a:pPr>
            <a:r>
              <a:rPr lang="en-US" sz="2000" b="1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Projektmanagement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:</a:t>
            </a:r>
            <a:endParaRPr lang="en-US"/>
          </a:p>
          <a:p>
            <a:pPr>
              <a:defRPr/>
            </a:pP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Meilensteine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erreicht</a:t>
            </a:r>
            <a:endParaRPr lang="en-US"/>
          </a:p>
          <a:p>
            <a:pPr marL="800100" lvl="1" indent="-342900">
              <a:buFont typeface="Arial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lang="en-US" sz="2000">
                <a:solidFill>
                  <a:srgbClr val="000000"/>
                </a:solidFill>
                <a:latin typeface="Avenir Next LT Pro"/>
              </a:rPr>
              <a:t>GitHub und GitHub Projects für </a:t>
            </a:r>
            <a:r>
              <a:rPr lang="en-US" sz="2000" err="1">
                <a:solidFill>
                  <a:srgbClr val="000000"/>
                </a:solidFill>
                <a:latin typeface="Avenir Next LT Pro"/>
              </a:rPr>
              <a:t>Projektplanung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 </a:t>
            </a:r>
          </a:p>
          <a:p>
            <a:pPr marL="800100" lvl="1" indent="-342900">
              <a:buFont typeface="Arial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</a:rPr>
              <a:t>dauerhafte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</a:rPr>
              <a:t>direkte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 Kommunikation, </a:t>
            </a:r>
            <a:r>
              <a:rPr lang="en-US" sz="2000" err="1">
                <a:solidFill>
                  <a:srgbClr val="000000"/>
                </a:solidFill>
                <a:latin typeface="Avenir Next LT Pro"/>
              </a:rPr>
              <a:t>trotz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</a:rPr>
              <a:t>wöchentlichen</a:t>
            </a:r>
            <a:r>
              <a:rPr lang="en-US" sz="2000">
                <a:solidFill>
                  <a:srgbClr val="000000"/>
                </a:solidFill>
                <a:latin typeface="Avenir Next LT Pro"/>
              </a:rPr>
              <a:t> Meeting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2542696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1A7BB-9E46-68CE-28EC-B8E260A5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2FBD4D2-7821-B55E-3964-E96C839A1991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4B623D4-4366-4479-DB45-1087B9CFDDC7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Performance &amp; Randbedingungen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7CA21E-FE85-D120-7655-FCA84D6B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CF520A-49CA-C9D2-CDD9-2E840301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17ADB1C-07CE-328C-F501-147C052A8FCD}"/>
              </a:ext>
            </a:extLst>
          </p:cNvPr>
          <p:cNvSpPr txBox="1"/>
          <p:nvPr/>
        </p:nvSpPr>
        <p:spPr>
          <a:xfrm>
            <a:off x="567764" y="1610714"/>
            <a:ext cx="9860434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Randbedingungen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Einbindung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des Codes für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serielle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Schnittstelle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muss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vorhanden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sein</a:t>
            </a:r>
          </a:p>
          <a:p>
            <a:pPr marL="742950" marR="0" lvl="1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Stabile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Lichtbedingungen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​</a:t>
            </a: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Druckluftzufuhr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muss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gegeben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sein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Maximale 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Bandgeschwindigkeit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von 0.015 m/s​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Jeder Start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benötigt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einscannen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von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Aruco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Markern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94E6E18-D6D5-47E1-8F88-02EE8683D646}"/>
              </a:ext>
            </a:extLst>
          </p:cNvPr>
          <p:cNvSpPr txBox="1"/>
          <p:nvPr/>
        </p:nvSpPr>
        <p:spPr>
          <a:xfrm>
            <a:off x="567765" y="4091852"/>
            <a:ext cx="7118497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Performance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:​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optimal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funktionierendes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Machine Learning model​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100%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Klassifizierungs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Trefferquote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(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während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Tests)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Aktuell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nur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ein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Teil pro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Sortierung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58021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FCCDA-C45D-2255-22B7-C4226DF3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479AF14-3858-E8F2-04A3-68E13C0C0EE9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4CE77A0-A157-9BF2-AC59-99E63638E006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Demonstration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4154F1E-2235-1F86-3D97-4F430AEE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E76934-C149-3395-19FD-D4310C7DF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0EA8E34-5A91-13AF-0501-07B9F5E83ECD}"/>
              </a:ext>
            </a:extLst>
          </p:cNvPr>
          <p:cNvSpPr txBox="1"/>
          <p:nvPr/>
        </p:nvSpPr>
        <p:spPr>
          <a:xfrm>
            <a:off x="567764" y="3167390"/>
            <a:ext cx="12522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Video</a:t>
            </a:r>
            <a:endParaRPr kumimoji="0" lang="de-DE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EFCDF62-C03B-B82E-5788-04A6762E6574}"/>
              </a:ext>
            </a:extLst>
          </p:cNvPr>
          <p:cNvSpPr/>
          <p:nvPr/>
        </p:nvSpPr>
        <p:spPr>
          <a:xfrm>
            <a:off x="273127" y="2815250"/>
            <a:ext cx="148792" cy="122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15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C3C0-B969-FC02-C38A-5931FCBE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6CC6ED-8053-6A4A-606E-1C5A819B57CB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C5F44F1-DF06-C390-2B10-851BFF89C4A9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Projekterfolge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C387E2-C61D-C44D-49C5-6A6365844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7DA4D5-47D4-6ACC-0752-CB0642EA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>
                <a:defRPr/>
              </a:pPr>
              <a:t>8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lang="de-DE">
              <a:latin typeface="Avenir Next LT Pro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4EA0F4F-956F-9FC1-2E67-FC7B095520E2}"/>
              </a:ext>
            </a:extLst>
          </p:cNvPr>
          <p:cNvSpPr txBox="1"/>
          <p:nvPr/>
        </p:nvSpPr>
        <p:spPr>
          <a:xfrm>
            <a:off x="567764" y="2613392"/>
            <a:ext cx="8172045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Robuste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Objektvision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 und Machine-Learning-pipeline​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Modularer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Softwareaufbau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​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indent="-285750" fontAlgn="base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Relative </a:t>
            </a:r>
            <a:r>
              <a:rPr lang="en-US" sz="2000" dirty="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Unabhängigkeit</a:t>
            </a:r>
            <a:r>
              <a:rPr lang="en-US" sz="2000" dirty="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in 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Projektplannung</a:t>
            </a:r>
            <a:endParaRPr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5821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D835A-B270-D1A4-19A0-399130CD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EEA7ECD-4C86-C578-6DF1-2EA398A21E7B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3A6539-6C0A-C8D7-009F-6099A6A81407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Aussichten und Erweiterungen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28F96E-D891-982F-7E97-92708FA41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Kunden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F5C7BB-15E5-7E01-F754-F290C2BE7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>
                <a:defRPr/>
              </a:pPr>
              <a:t>9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/10</a:t>
            </a:r>
            <a:endParaRPr lang="de-DE">
              <a:latin typeface="Avenir Next LT Pro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EC34081-6405-3B66-3BBF-FFC4981E8CF4}"/>
              </a:ext>
            </a:extLst>
          </p:cNvPr>
          <p:cNvSpPr txBox="1"/>
          <p:nvPr/>
        </p:nvSpPr>
        <p:spPr>
          <a:xfrm>
            <a:off x="567764" y="1382286"/>
            <a:ext cx="11239923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000" b="1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Aussichten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: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Optimierte Taktzeiten​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800100" marR="0" lvl="1" indent="-342900" algn="l" defTabSz="91440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L="800100" lvl="1" indent="-342900" fontAlgn="base">
              <a:buFont typeface="Arial"/>
              <a:buChar char="•"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Eine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optimierte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Fehlerbehandlung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​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marR="0" lvl="1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lt"/>
              <a:cs typeface="+mn-lt"/>
            </a:endParaRPr>
          </a:p>
          <a:p>
            <a:pPr lvl="1">
              <a:defRPr/>
            </a:pP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>
              <a:defRPr/>
            </a:pPr>
            <a:r>
              <a:rPr lang="en-US" sz="2000" b="1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Erweiterungen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800100" lvl="1" indent="-342900">
              <a:buFont typeface="Arial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Übersichtliche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UI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Erweiterbares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 </a:t>
            </a:r>
            <a:r>
              <a:rPr lang="en-US" sz="2000" err="1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Objektportfolio</a:t>
            </a: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742950" lvl="1" indent="-285750" fontAlgn="base">
              <a:buFont typeface="Arial" panose="020B0604020202020204" pitchFamily="34" charset="0"/>
              <a:buChar char="•"/>
              <a:defRPr/>
            </a:pPr>
            <a:endParaRPr lang="en-US" sz="2000">
              <a:solidFill>
                <a:srgbClr val="000000"/>
              </a:solidFill>
              <a:latin typeface="Avenir Next LT Pro"/>
              <a:ea typeface="+mn-lt"/>
              <a:cs typeface="+mn-lt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Selbständiges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Trainieren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auf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ein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neues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Objekt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 das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sich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auf dem 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Förderband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 </a:t>
            </a: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bewegt</a:t>
            </a:r>
            <a:r>
              <a:rPr lang="en-US" sz="2000">
                <a:solidFill>
                  <a:srgbClr val="000000"/>
                </a:solidFill>
                <a:latin typeface="Avenir Next LT Pro"/>
                <a:ea typeface="+mn-lt"/>
                <a:cs typeface="+mn-lt"/>
              </a:rPr>
              <a:t>​</a:t>
            </a:r>
            <a:r>
              <a:rPr lang="en-US" strike="sngStrike">
                <a:solidFill>
                  <a:srgbClr val="000000"/>
                </a:solidFill>
                <a:latin typeface="Aptos"/>
                <a:ea typeface="+mn-lt"/>
                <a:cs typeface="+mn-lt"/>
              </a:rPr>
              <a:t>​</a:t>
            </a:r>
            <a:endParaRPr lang="en-US" sz="2000" b="0" i="0" u="non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4149864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F3CA-FEB9-3B60-2614-B1961870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30">
            <a:extLst>
              <a:ext uri="{FF2B5EF4-FFF2-40B4-BE49-F238E27FC236}">
                <a16:creationId xmlns:a16="http://schemas.microsoft.com/office/drawing/2014/main" id="{889FC7EB-9599-2149-204A-7E3C3366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Danke für Ihre Aufmerksamkeit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409CE5D-6E5E-6FA9-F016-4206BBFD4DFA}"/>
              </a:ext>
            </a:extLst>
          </p:cNvPr>
          <p:cNvSpPr txBox="1"/>
          <p:nvPr/>
        </p:nvSpPr>
        <p:spPr>
          <a:xfrm>
            <a:off x="7471774" y="2226600"/>
            <a:ext cx="4322859" cy="36625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Kurzer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Recap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342900" indent="-342900" algn="just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Projektübersicht</a:t>
            </a:r>
            <a:endParaRPr lang="en-US" sz="2000">
              <a:solidFill>
                <a:srgbClr val="000000"/>
              </a:solidFill>
              <a:latin typeface="Avenir Next LT Pro"/>
            </a:endParaRPr>
          </a:p>
          <a:p>
            <a:pPr marL="342900" indent="-342900" algn="just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Techn. Highlights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342900" indent="-342900" algn="just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Performance 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&amp; </a:t>
            </a:r>
            <a:r>
              <a:rPr lang="de-DE" sz="2000">
                <a:solidFill>
                  <a:srgbClr val="000000"/>
                </a:solidFill>
                <a:latin typeface="Avenir Next LT Pro"/>
              </a:rPr>
              <a:t>Randbedingung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342900" marR="0" lvl="0" indent="-342900" algn="just" defTabSz="91440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Font typeface="Arial,Sans-Serif"/>
              <a:buChar char="•"/>
              <a:tabLst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Demonstration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342900" marR="0" lvl="0" indent="-342900" algn="just" defTabSz="91440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Font typeface="Arial,Sans-Serif"/>
              <a:buChar char="•"/>
              <a:tabLst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Projekterfolge</a:t>
            </a: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342900" marR="0" lvl="0" indent="-342900" algn="just" defTabSz="91440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Font typeface="Arial,Sans-Serif"/>
              <a:buChar char="•"/>
              <a:tabLst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Aussichten</a:t>
            </a:r>
            <a:endParaRPr lang="de-DE"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201B427-BE54-FC43-110A-E7900756961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</a:t>
            </a:r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Kunden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Präsentation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D01D62D-E730-F858-DBE0-8A61A03C72C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10/</a:t>
            </a:r>
            <a:fld id="{A65A5C87-DF58-40C8-B092-1DE63DB4547E}" type="slidenum">
              <a:rPr kumimoji="0" lang="de-DE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>
                <a:defRPr/>
              </a:pPr>
              <a:t>10</a:t>
            </a:fld>
            <a:endParaRPr lang="de-DE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DF02A56-9A63-EFAE-0EDB-647C843CC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" t="3407" r="-854" b="8408"/>
          <a:stretch>
            <a:fillRect/>
          </a:stretch>
        </p:blipFill>
        <p:spPr>
          <a:xfrm>
            <a:off x="1119963" y="333153"/>
            <a:ext cx="5039832" cy="58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7575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3_TF89213316_Win32" id="{67A28977-17DF-4777-B40A-22DAA598986C}" vid="{8313F26B-4FB6-4A0C-9B52-428916D250D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AccentBoxVTI</vt:lpstr>
      <vt:lpstr>Kunden Präsentation</vt:lpstr>
      <vt:lpstr>PowerPoint Presentation</vt:lpstr>
      <vt:lpstr>Projektübersicht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Danke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wenzig patrice</dc:creator>
  <cp:revision>21</cp:revision>
  <dcterms:created xsi:type="dcterms:W3CDTF">2026-07-05T09:22:13Z</dcterms:created>
  <dcterms:modified xsi:type="dcterms:W3CDTF">2026-07-22T11:20:01Z</dcterms:modified>
</cp:coreProperties>
</file>